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20332-9EF3-4D7C-9729-F5B10C8431BC}" type="datetimeFigureOut">
              <a:rPr lang="id-ID" smtClean="0"/>
              <a:t>03/08/2026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B494E-7A2F-4EC1-A93D-95EE11656D0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14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B494E-7A2F-4EC1-A93D-95EE11656D0F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2287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0388" y="2319337"/>
            <a:ext cx="9791223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6000" b="0" i="0" u="none" dirty="0" err="1">
                <a:solidFill>
                  <a:srgbClr val="4F46E5"/>
                </a:solidFill>
                <a:latin typeface="Fredoka SemiBold"/>
              </a:rPr>
              <a:t>Mengingat</a:t>
            </a:r>
            <a:r>
              <a:rPr lang="en-US" sz="6000" b="0" i="0" u="none" dirty="0">
                <a:solidFill>
                  <a:srgbClr val="4F46E5"/>
                </a:solidFill>
                <a:latin typeface="Fredoka SemiBold"/>
              </a:rPr>
              <a:t> </a:t>
            </a:r>
            <a:r>
              <a:rPr lang="en-US" sz="6000" b="0" i="0" u="none" dirty="0" err="1">
                <a:solidFill>
                  <a:srgbClr val="4F46E5"/>
                </a:solidFill>
                <a:latin typeface="Fredoka SemiBold"/>
              </a:rPr>
              <a:t>materi</a:t>
            </a:r>
            <a:r>
              <a:rPr lang="en-US" sz="6000" b="0" i="0" u="none" dirty="0">
                <a:solidFill>
                  <a:srgbClr val="4F46E5"/>
                </a:solidFill>
                <a:latin typeface="Fredoka SemiBold"/>
              </a:rPr>
              <a:t> sebelumnya</a:t>
            </a:r>
            <a:endParaRPr sz="6000" b="0" i="0" u="none" dirty="0">
              <a:solidFill>
                <a:srgbClr val="4F46E5"/>
              </a:solidFill>
              <a:latin typeface="Fredoka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3512" y="3983533"/>
            <a:ext cx="9324975" cy="480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4000" b="1" i="0" u="none" dirty="0" err="1">
                <a:solidFill>
                  <a:srgbClr val="FB923C"/>
                </a:solidFill>
                <a:latin typeface="Nunito"/>
              </a:rPr>
              <a:t>Apa</a:t>
            </a:r>
            <a:r>
              <a:rPr lang="en-US" sz="4000" b="1" i="0" u="none" dirty="0">
                <a:solidFill>
                  <a:srgbClr val="FB923C"/>
                </a:solidFill>
                <a:latin typeface="Nunito"/>
              </a:rPr>
              <a:t> itu Informatika?</a:t>
            </a:r>
            <a:endParaRPr sz="4000" b="1" i="0" u="none" dirty="0">
              <a:solidFill>
                <a:srgbClr val="FB923C"/>
              </a:solidFill>
              <a:latin typeface="Nuni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3512" y="4600723"/>
            <a:ext cx="9324975" cy="403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4000" b="0" i="0" u="none" dirty="0" err="1">
                <a:solidFill>
                  <a:srgbClr val="334155"/>
                </a:solidFill>
                <a:latin typeface="Nunito"/>
              </a:rPr>
              <a:t>Apa</a:t>
            </a:r>
            <a:r>
              <a:rPr lang="en-US" sz="4000" b="0" i="0" u="none" dirty="0">
                <a:solidFill>
                  <a:srgbClr val="334155"/>
                </a:solidFill>
                <a:latin typeface="Nunito"/>
              </a:rPr>
              <a:t> tujuan </a:t>
            </a:r>
            <a:r>
              <a:rPr lang="en-US" sz="4000" b="0" i="0" u="none" dirty="0" err="1">
                <a:solidFill>
                  <a:srgbClr val="334155"/>
                </a:solidFill>
                <a:latin typeface="Nunito"/>
              </a:rPr>
              <a:t>mempelajari</a:t>
            </a:r>
            <a:r>
              <a:rPr lang="en-US" sz="4000" b="0" i="0" u="none" dirty="0">
                <a:solidFill>
                  <a:srgbClr val="334155"/>
                </a:solidFill>
                <a:latin typeface="Nunito"/>
              </a:rPr>
              <a:t> Informatika?</a:t>
            </a:r>
            <a:endParaRPr sz="4000" b="0" i="0" u="none" dirty="0">
              <a:solidFill>
                <a:srgbClr val="334155"/>
              </a:solidFill>
              <a:latin typeface="Nunit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B35775-3187-4546-AA3A-4339F0E25E89}"/>
              </a:ext>
            </a:extLst>
          </p:cNvPr>
          <p:cNvSpPr/>
          <p:nvPr/>
        </p:nvSpPr>
        <p:spPr>
          <a:xfrm>
            <a:off x="1271588" y="628650"/>
            <a:ext cx="2900362" cy="475773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Computational Thinking</a:t>
            </a:r>
          </a:p>
          <a:p>
            <a:r>
              <a:rPr lang="id-ID" dirty="0"/>
              <a:t>Dekomposisi</a:t>
            </a:r>
          </a:p>
          <a:p>
            <a:r>
              <a:rPr lang="en-US" dirty="0" err="1"/>
              <a:t>Contoh</a:t>
            </a:r>
            <a:endParaRPr lang="en-US" dirty="0"/>
          </a:p>
          <a:p>
            <a:endParaRPr lang="id-ID" dirty="0"/>
          </a:p>
          <a:p>
            <a:r>
              <a:rPr lang="id-ID" dirty="0"/>
              <a:t>Pengenalan pola</a:t>
            </a:r>
            <a:endParaRPr lang="en-US" dirty="0"/>
          </a:p>
          <a:p>
            <a:r>
              <a:rPr lang="en-US" dirty="0" err="1"/>
              <a:t>Contoh</a:t>
            </a:r>
            <a:endParaRPr lang="en-US" dirty="0"/>
          </a:p>
          <a:p>
            <a:endParaRPr lang="id-ID" dirty="0"/>
          </a:p>
          <a:p>
            <a:r>
              <a:rPr lang="id-ID" dirty="0"/>
              <a:t>Abstraksi</a:t>
            </a:r>
          </a:p>
          <a:p>
            <a:r>
              <a:rPr lang="en-US" dirty="0" err="1"/>
              <a:t>contoh</a:t>
            </a:r>
            <a:endParaRPr lang="id-ID" dirty="0"/>
          </a:p>
          <a:p>
            <a:endParaRPr lang="en-US" dirty="0"/>
          </a:p>
          <a:p>
            <a:r>
              <a:rPr lang="id-ID" dirty="0"/>
              <a:t>Algoritma</a:t>
            </a:r>
            <a:endParaRPr lang="en-US" dirty="0"/>
          </a:p>
          <a:p>
            <a:r>
              <a:rPr lang="en-US" dirty="0" err="1"/>
              <a:t>Contoh</a:t>
            </a:r>
            <a:endParaRPr lang="en-US" dirty="0"/>
          </a:p>
          <a:p>
            <a:endParaRPr lang="en-US" dirty="0"/>
          </a:p>
          <a:p>
            <a:r>
              <a:rPr lang="en-US" dirty="0"/>
              <a:t>Challenge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8F82C-EA7F-4B44-9A8A-984B21DABA53}"/>
              </a:ext>
            </a:extLst>
          </p:cNvPr>
          <p:cNvSpPr/>
          <p:nvPr/>
        </p:nvSpPr>
        <p:spPr>
          <a:xfrm>
            <a:off x="4171950" y="628649"/>
            <a:ext cx="5672138" cy="4757737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1841DC-AA30-40E4-AEFF-53C421DEE33E}"/>
              </a:ext>
            </a:extLst>
          </p:cNvPr>
          <p:cNvSpPr/>
          <p:nvPr/>
        </p:nvSpPr>
        <p:spPr>
          <a:xfrm>
            <a:off x="1271588" y="5386387"/>
            <a:ext cx="8572500" cy="11715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Kesimpulan:</a:t>
            </a:r>
            <a:endParaRPr lang="id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7EB5D-6911-4C14-8197-2C1C8ACBC0A8}"/>
              </a:ext>
            </a:extLst>
          </p:cNvPr>
          <p:cNvSpPr txBox="1"/>
          <p:nvPr/>
        </p:nvSpPr>
        <p:spPr>
          <a:xfrm>
            <a:off x="1271588" y="259318"/>
            <a:ext cx="1382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Kata </a:t>
            </a:r>
            <a:r>
              <a:rPr lang="en-US" dirty="0" err="1"/>
              <a:t>Kunci</a:t>
            </a:r>
            <a:endParaRPr lang="id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593B6-A25C-4F5E-9590-F05899CA6FD8}"/>
              </a:ext>
            </a:extLst>
          </p:cNvPr>
          <p:cNvSpPr txBox="1"/>
          <p:nvPr/>
        </p:nvSpPr>
        <p:spPr>
          <a:xfrm>
            <a:off x="4171950" y="259318"/>
            <a:ext cx="145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Penjelasan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119411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0388" y="2319337"/>
            <a:ext cx="9791223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4F46E5"/>
                </a:solidFill>
                <a:latin typeface="Fredoka SemiBold"/>
              </a:rPr>
              <a:t>Berpikir ala Programmer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" y="3443287"/>
            <a:ext cx="93249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FB923C"/>
                </a:solidFill>
                <a:latin typeface="Nunito"/>
              </a:rPr>
              <a:t>Menyelesaikan Masalah dengan "Computational Thinking"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3512" y="4060477"/>
            <a:ext cx="93249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"/>
              </a:rPr>
              <a:t>Mari belajar cara otak pintar menyelesaikan masalah rumit menjadi super gampang!</a:t>
            </a:r>
          </a:p>
        </p:txBody>
      </p:sp>
    </p:spTree>
    <p:extLst>
      <p:ext uri="{BB962C8B-B14F-4D97-AF65-F5344CB8AC3E}">
        <p14:creationId xmlns:p14="http://schemas.microsoft.com/office/powerpoint/2010/main" val="29819321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59448"/>
            <a:ext cx="5248275" cy="1816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15107"/>
            <a:ext cx="52482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815107"/>
            <a:ext cx="52482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Nunito"/>
              </a:rPr>
              <a:t>Bukan berarti kita harus berpikir seperti robot atau mesin!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28304"/>
            <a:ext cx="52482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id-ID" sz="1650" b="0" i="0" u="none" dirty="0">
                <a:solidFill>
                  <a:srgbClr val="334155"/>
                </a:solidFill>
                <a:latin typeface="Nunito"/>
              </a:rPr>
              <a:t>Computational Thinking (Berpikir Komputasional) adalah cara kita melatih otak untuk memecahkan masalah besar dan rumit, menjadi langkah-langkah logis yang jelas.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349948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B45309"/>
                </a:solidFill>
                <a:latin typeface="Nunito ExtraBold"/>
              </a:rPr>
              <a:t>💡 Tujuan Utamanya: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780359"/>
            <a:ext cx="48101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Menemukan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solusi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yang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efektif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dan bisa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diulangi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seolah-olah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kita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sedang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memberi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instruksi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kepada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 SemiBold"/>
              </a:rPr>
              <a:t>komputer</a:t>
            </a:r>
            <a:r>
              <a:rPr sz="1650" b="0" i="0" u="none" dirty="0">
                <a:solidFill>
                  <a:srgbClr val="334155"/>
                </a:solidFill>
                <a:latin typeface="Nunito SemiBold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853207"/>
            <a:ext cx="5172075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 err="1">
                <a:solidFill>
                  <a:srgbClr val="4F46E5"/>
                </a:solidFill>
                <a:latin typeface="Fredoka SemiBold"/>
              </a:rPr>
              <a:t>Apa</a:t>
            </a:r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 itu Computational Thinking?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E2CED-A41D-4AD8-9545-D064021C1FFA}"/>
              </a:ext>
            </a:extLst>
          </p:cNvPr>
          <p:cNvSpPr/>
          <p:nvPr/>
        </p:nvSpPr>
        <p:spPr>
          <a:xfrm>
            <a:off x="514350" y="3000375"/>
            <a:ext cx="5014913" cy="96857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9608E-2210-418D-842B-94DED311BCC6}"/>
              </a:ext>
            </a:extLst>
          </p:cNvPr>
          <p:cNvCxnSpPr>
            <a:cxnSpLocks/>
          </p:cNvCxnSpPr>
          <p:nvPr/>
        </p:nvCxnSpPr>
        <p:spPr>
          <a:xfrm flipV="1">
            <a:off x="5529263" y="2628304"/>
            <a:ext cx="566737" cy="5863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D818AC1-67CA-44CB-84CB-F6532AC4B767}"/>
              </a:ext>
            </a:extLst>
          </p:cNvPr>
          <p:cNvSpPr txBox="1"/>
          <p:nvPr/>
        </p:nvSpPr>
        <p:spPr>
          <a:xfrm>
            <a:off x="5857875" y="2128200"/>
            <a:ext cx="1382315" cy="450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800" b="1" i="0" u="none" dirty="0" err="1">
                <a:solidFill>
                  <a:srgbClr val="334155"/>
                </a:solidFill>
                <a:latin typeface="Nunito"/>
              </a:rPr>
              <a:t>Ditulis</a:t>
            </a:r>
            <a:endParaRPr lang="id-ID" sz="2800" b="1" i="0" u="none" dirty="0">
              <a:solidFill>
                <a:srgbClr val="334155"/>
              </a:solidFill>
              <a:latin typeface="Nunit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07890"/>
            <a:ext cx="2528887" cy="2985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237" y="2407890"/>
            <a:ext cx="2528887" cy="29850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407890"/>
            <a:ext cx="2528887" cy="29850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512" y="2407890"/>
            <a:ext cx="2528887" cy="29850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043" y="2722215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3953" y="3674715"/>
            <a:ext cx="144018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4338CA"/>
                </a:solidFill>
                <a:latin typeface="Fredoka SemiBold"/>
              </a:rPr>
              <a:t>Dekomposisi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12865"/>
            <a:ext cx="1900237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Memecah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masalah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raksasa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jadi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kecil-kecil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681" y="2722215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2858" y="3668017"/>
            <a:ext cx="1820227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950" b="0" i="0" u="none" dirty="0" err="1">
                <a:solidFill>
                  <a:srgbClr val="4338CA"/>
                </a:solidFill>
                <a:latin typeface="Fredoka SemiBold"/>
              </a:rPr>
              <a:t>Pengenalan</a:t>
            </a:r>
            <a:r>
              <a:rPr lang="en-US" sz="1950" b="0" i="0" u="none" dirty="0">
                <a:solidFill>
                  <a:srgbClr val="4338CA"/>
                </a:solidFill>
                <a:latin typeface="Fredoka SemiBold"/>
              </a:rPr>
              <a:t> </a:t>
            </a:r>
            <a:r>
              <a:rPr lang="en-US" sz="1950" dirty="0">
                <a:solidFill>
                  <a:srgbClr val="4338CA"/>
                </a:solidFill>
                <a:latin typeface="Fredoka SemiBold"/>
              </a:rPr>
              <a:t> </a:t>
            </a:r>
            <a:r>
              <a:rPr sz="1950" b="0" i="0" u="none" dirty="0">
                <a:solidFill>
                  <a:srgbClr val="4338CA"/>
                </a:solidFill>
                <a:latin typeface="Fredoka SemiBold"/>
              </a:rPr>
              <a:t>Pola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562" y="4112865"/>
            <a:ext cx="1900237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Nunito"/>
              </a:rPr>
              <a:t>Mencari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kesamaan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atau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kemiripan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bentuk.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2318" y="2722215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3248" y="3674715"/>
            <a:ext cx="112014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4338CA"/>
                </a:solidFill>
                <a:latin typeface="Fredoka SemiBold"/>
              </a:rPr>
              <a:t>Abstraksi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112865"/>
            <a:ext cx="190023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Fokus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pada yang penting,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abaikan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yang tidak.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6956" y="2722215"/>
            <a:ext cx="762000" cy="76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27882" y="3674715"/>
            <a:ext cx="118014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4338CA"/>
                </a:solidFill>
                <a:latin typeface="Fredoka SemiBold"/>
              </a:rPr>
              <a:t>Algoritma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7837" y="4112865"/>
            <a:ext cx="1900237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Nunito"/>
              </a:rPr>
              <a:t>Menyusun langkah-langkah </a:t>
            </a:r>
            <a:r>
              <a:rPr sz="1350" b="0" i="0" u="none" dirty="0" err="1">
                <a:solidFill>
                  <a:srgbClr val="334155"/>
                </a:solidFill>
                <a:latin typeface="Nunito"/>
              </a:rPr>
              <a:t>jitu</a:t>
            </a:r>
            <a:r>
              <a:rPr sz="1350" b="0" i="0" u="none" dirty="0">
                <a:solidFill>
                  <a:srgbClr val="334155"/>
                </a:solidFill>
                <a:latin typeface="Nunito"/>
              </a:rPr>
              <a:t> dan urut.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2593" y="2931765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7231" y="2931765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1868" y="2931765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6506" y="2931765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609600"/>
            <a:ext cx="1152144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4F46E5"/>
                </a:solidFill>
                <a:latin typeface="Fredoka SemiBold"/>
              </a:rPr>
              <a:t>4 Pilar Kekuatan Super! 🦸‍♂️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1990725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322611"/>
            <a:ext cx="55106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4338CA"/>
                </a:solidFill>
                <a:latin typeface="Fredoka SemiBold"/>
              </a:rPr>
              <a:t>Bayangkan Sebuah Pizza Raksasa! 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836961"/>
            <a:ext cx="52482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Apakah kamu bisa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memakan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pizza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berukuran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1 meter dalam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satu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gigitan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? Tentu tidak! Masalahnya terlalu besar.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985319"/>
            <a:ext cx="52482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Solusinya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 (</a:t>
            </a: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Dekomposisi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):</a:t>
            </a:r>
            <a:r>
              <a:rPr dirty="0"/>
              <a:t>
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Potong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pizza tersebut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menjadi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1" u="none" dirty="0">
                <a:solidFill>
                  <a:srgbClr val="334155"/>
                </a:solidFill>
                <a:latin typeface="Nunito"/>
              </a:rPr>
              <a:t>slice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(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potongan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)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kecil-kecil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Memecah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masalah yang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rumit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menjadi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bagian-bagian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kecil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membuatnya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sangat mudah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diselesaikan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066925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4F46E5"/>
                </a:solidFill>
                <a:latin typeface="Fredoka SemiBold"/>
              </a:rPr>
              <a:t>1. Dekomposisi (Memecah Masalah)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87F45-F914-481D-B11C-2C4F2E59F589}"/>
              </a:ext>
            </a:extLst>
          </p:cNvPr>
          <p:cNvSpPr txBox="1"/>
          <p:nvPr/>
        </p:nvSpPr>
        <p:spPr>
          <a:xfrm>
            <a:off x="-303609" y="1316226"/>
            <a:ext cx="619363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id-ID" sz="1800" b="1" i="0" u="none" dirty="0">
                <a:solidFill>
                  <a:srgbClr val="334155"/>
                </a:solidFill>
                <a:latin typeface="Nunito"/>
              </a:rPr>
              <a:t>Memecah masalah raksasa jadi kecil-kecil.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B045C-80B6-4FA0-887F-8253ADCC436C}"/>
              </a:ext>
            </a:extLst>
          </p:cNvPr>
          <p:cNvSpPr/>
          <p:nvPr/>
        </p:nvSpPr>
        <p:spPr>
          <a:xfrm>
            <a:off x="328613" y="1202531"/>
            <a:ext cx="5157787" cy="6381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16013"/>
            <a:ext cx="52482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916013"/>
            <a:ext cx="55106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 err="1">
                <a:solidFill>
                  <a:srgbClr val="4338CA"/>
                </a:solidFill>
                <a:latin typeface="Fredoka SemiBold"/>
              </a:rPr>
              <a:t>Menebak</a:t>
            </a:r>
            <a:r>
              <a:rPr sz="2400" b="0" i="0" u="none" dirty="0">
                <a:solidFill>
                  <a:srgbClr val="4338CA"/>
                </a:solidFill>
                <a:latin typeface="Fredoka SemiBold"/>
              </a:rPr>
              <a:t> Lagu </a:t>
            </a:r>
            <a:r>
              <a:rPr sz="2400" b="0" i="0" u="none" dirty="0" err="1">
                <a:solidFill>
                  <a:srgbClr val="4338CA"/>
                </a:solidFill>
                <a:latin typeface="Fredoka SemiBold"/>
              </a:rPr>
              <a:t>Kesukaanmu</a:t>
            </a:r>
            <a:r>
              <a:rPr sz="2400" b="0" i="0" u="none" dirty="0">
                <a:solidFill>
                  <a:srgbClr val="4338CA"/>
                </a:solidFill>
                <a:latin typeface="Fredoka SemiBold"/>
              </a:rPr>
              <a:t> 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430363"/>
            <a:ext cx="52482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Pernahkah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kamu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mendengar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lagu baru di radio, lalu kamu bisa langsung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menebak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, </a:t>
            </a:r>
            <a:r>
              <a:rPr sz="1650" b="0" i="1" u="none" dirty="0">
                <a:solidFill>
                  <a:srgbClr val="334155"/>
                </a:solidFill>
                <a:latin typeface="Nunito"/>
              </a:rPr>
              <a:t>"Ah! Ini pasti </a:t>
            </a:r>
            <a:r>
              <a:rPr sz="1650" b="0" i="1" u="none" dirty="0" err="1">
                <a:solidFill>
                  <a:srgbClr val="334155"/>
                </a:solidFill>
                <a:latin typeface="Nunito"/>
              </a:rPr>
              <a:t>lagunya</a:t>
            </a:r>
            <a:r>
              <a:rPr sz="1650" b="0" i="1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1" u="none" dirty="0" err="1">
                <a:solidFill>
                  <a:srgbClr val="334155"/>
                </a:solidFill>
                <a:latin typeface="Nunito"/>
              </a:rPr>
              <a:t>Tulus</a:t>
            </a:r>
            <a:r>
              <a:rPr sz="1650" b="0" i="1" u="none" dirty="0">
                <a:solidFill>
                  <a:srgbClr val="334155"/>
                </a:solidFill>
                <a:latin typeface="Nunito"/>
              </a:rPr>
              <a:t>!"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78721"/>
            <a:ext cx="5248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Padahal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lagunya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baru lho. Kenapa bisa tahu?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56757"/>
            <a:ext cx="524827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Karena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otakmu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mengenali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pola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! Kamu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hafal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pola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suara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penyanyinya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alunan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musiknya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, dan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gaya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lagunya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 Di Informatika,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mengenali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pola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membantu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kita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menyelesaikan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masalah baru dengan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cara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yang sudah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kita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ketahui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954113"/>
            <a:ext cx="5172075" cy="3733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4F46E5"/>
                </a:solidFill>
                <a:latin typeface="Fredoka SemiBold"/>
              </a:rPr>
              <a:t>2. Pengenalan Pola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EAF13-32BD-4096-AD74-FC93879B4331}"/>
              </a:ext>
            </a:extLst>
          </p:cNvPr>
          <p:cNvSpPr txBox="1"/>
          <p:nvPr/>
        </p:nvSpPr>
        <p:spPr>
          <a:xfrm>
            <a:off x="5253037" y="790574"/>
            <a:ext cx="548640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Nunito"/>
              </a:rPr>
              <a:t>Mencari </a:t>
            </a:r>
            <a:r>
              <a:rPr b="1" i="0" u="none" dirty="0" err="1">
                <a:solidFill>
                  <a:srgbClr val="334155"/>
                </a:solidFill>
                <a:latin typeface="Nunito"/>
              </a:rPr>
              <a:t>kesamaan</a:t>
            </a:r>
            <a:r>
              <a:rPr b="1" i="0" u="none" dirty="0">
                <a:solidFill>
                  <a:srgbClr val="334155"/>
                </a:solidFill>
                <a:latin typeface="Nunito"/>
              </a:rPr>
              <a:t> atau </a:t>
            </a:r>
            <a:r>
              <a:rPr b="1" i="0" u="none" dirty="0" err="1">
                <a:solidFill>
                  <a:srgbClr val="334155"/>
                </a:solidFill>
                <a:latin typeface="Nunito"/>
              </a:rPr>
              <a:t>kemiripan</a:t>
            </a:r>
            <a:r>
              <a:rPr b="1" i="0" u="none" dirty="0">
                <a:solidFill>
                  <a:srgbClr val="334155"/>
                </a:solidFill>
                <a:latin typeface="Nunito"/>
              </a:rPr>
              <a:t> bentuk.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1C98D8-F70C-4A8F-A361-6D86B4D83135}"/>
              </a:ext>
            </a:extLst>
          </p:cNvPr>
          <p:cNvSpPr/>
          <p:nvPr/>
        </p:nvSpPr>
        <p:spPr>
          <a:xfrm>
            <a:off x="5417343" y="584150"/>
            <a:ext cx="5157787" cy="6381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5510688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3. </a:t>
            </a:r>
            <a:r>
              <a:rPr sz="3600" b="0" i="0" u="none" dirty="0" err="1">
                <a:solidFill>
                  <a:srgbClr val="4F46E5"/>
                </a:solidFill>
                <a:latin typeface="Fredoka SemiBold"/>
              </a:rPr>
              <a:t>Abstraksi</a:t>
            </a:r>
            <a:endParaRPr sz="3600" b="0" i="0" u="none" dirty="0">
              <a:solidFill>
                <a:srgbClr val="4F46E5"/>
              </a:solidFill>
              <a:latin typeface="Fredoka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2727721"/>
            <a:ext cx="55106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 err="1">
                <a:solidFill>
                  <a:srgbClr val="4338CA"/>
                </a:solidFill>
                <a:latin typeface="Fredoka SemiBold"/>
              </a:rPr>
              <a:t>Saring</a:t>
            </a:r>
            <a:r>
              <a:rPr sz="2400" b="0" i="0" u="none" dirty="0">
                <a:solidFill>
                  <a:srgbClr val="4338CA"/>
                </a:solidFill>
                <a:latin typeface="Fredoka SemiBold"/>
              </a:rPr>
              <a:t> yang Penting Saja! 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42071"/>
            <a:ext cx="52482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Pernah pakai Google Maps? Peta digital itu adalah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contoh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terbaik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dari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Abstraksi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55267"/>
            <a:ext cx="52482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Peta 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tidak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menggambar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setiap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pohon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, warna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genteng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rumah, atau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letak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tiang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listrik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di jalan. Kenapa?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994367-8DA3-4106-8165-B4D20B05A0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113" t="11749" r="7706" b="14439"/>
          <a:stretch/>
        </p:blipFill>
        <p:spPr>
          <a:xfrm>
            <a:off x="6162675" y="478081"/>
            <a:ext cx="5724525" cy="58560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868464"/>
            <a:ext cx="52482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Karena itu 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tidak penting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untuk mencari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rute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!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Abstraksi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adalah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seni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membuang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detail yang tidak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relevan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agar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kita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bisa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fokus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pada informasi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utamanya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(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nama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jalan &amp;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rute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17163-C1A8-4AEF-9B4D-1EE00F69794A}"/>
              </a:ext>
            </a:extLst>
          </p:cNvPr>
          <p:cNvSpPr txBox="1"/>
          <p:nvPr/>
        </p:nvSpPr>
        <p:spPr>
          <a:xfrm>
            <a:off x="328613" y="1380553"/>
            <a:ext cx="5724525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i="0" u="none" dirty="0" err="1">
                <a:solidFill>
                  <a:srgbClr val="334155"/>
                </a:solidFill>
                <a:latin typeface="Nunito"/>
              </a:rPr>
              <a:t>Fokus</a:t>
            </a:r>
            <a:r>
              <a:rPr b="1" i="0" u="none" dirty="0">
                <a:solidFill>
                  <a:srgbClr val="334155"/>
                </a:solidFill>
                <a:latin typeface="Nunito"/>
              </a:rPr>
              <a:t> pada </a:t>
            </a:r>
            <a:r>
              <a:rPr lang="en-US" b="1" i="0" u="none" dirty="0" err="1">
                <a:solidFill>
                  <a:srgbClr val="334155"/>
                </a:solidFill>
                <a:latin typeface="Nunito"/>
              </a:rPr>
              <a:t>hal</a:t>
            </a:r>
            <a:r>
              <a:rPr lang="en-US" b="1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b="1" i="0" u="none" dirty="0">
                <a:solidFill>
                  <a:srgbClr val="334155"/>
                </a:solidFill>
                <a:latin typeface="Nunito"/>
              </a:rPr>
              <a:t>yang penting, </a:t>
            </a:r>
            <a:r>
              <a:rPr b="1" i="0" u="none" dirty="0" err="1">
                <a:solidFill>
                  <a:srgbClr val="334155"/>
                </a:solidFill>
                <a:latin typeface="Nunito"/>
              </a:rPr>
              <a:t>abaikan</a:t>
            </a:r>
            <a:r>
              <a:rPr b="1" i="0" u="none" dirty="0">
                <a:solidFill>
                  <a:srgbClr val="334155"/>
                </a:solidFill>
                <a:latin typeface="Nunito"/>
              </a:rPr>
              <a:t> yang tidak.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CFADD-38F2-4FB4-B1AA-84E5AE5F9EAF}"/>
              </a:ext>
            </a:extLst>
          </p:cNvPr>
          <p:cNvSpPr/>
          <p:nvPr/>
        </p:nvSpPr>
        <p:spPr>
          <a:xfrm>
            <a:off x="328613" y="1202531"/>
            <a:ext cx="5700713" cy="6381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737" y="1990725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204442"/>
            <a:ext cx="55106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 err="1">
                <a:solidFill>
                  <a:srgbClr val="4338CA"/>
                </a:solidFill>
                <a:latin typeface="Fredoka SemiBold"/>
              </a:rPr>
              <a:t>Resep</a:t>
            </a:r>
            <a:r>
              <a:rPr sz="2400" b="0" i="0" u="none" dirty="0">
                <a:solidFill>
                  <a:srgbClr val="4338CA"/>
                </a:solidFill>
                <a:latin typeface="Fredoka SemiBold"/>
              </a:rPr>
              <a:t> Mie </a:t>
            </a:r>
            <a:r>
              <a:rPr sz="2400" b="0" i="0" u="none" dirty="0" err="1">
                <a:solidFill>
                  <a:srgbClr val="4338CA"/>
                </a:solidFill>
                <a:latin typeface="Fredoka SemiBold"/>
              </a:rPr>
              <a:t>Instan</a:t>
            </a:r>
            <a:r>
              <a:rPr sz="2400" b="0" i="0" u="none" dirty="0">
                <a:solidFill>
                  <a:srgbClr val="4338CA"/>
                </a:solidFill>
                <a:latin typeface="Fredoka SemiBold"/>
              </a:rPr>
              <a:t> 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718792"/>
            <a:ext cx="5248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"/>
              </a:rPr>
              <a:t>Algoritma itu seperti resep! Harus urut dan jelas.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4773810"/>
            <a:ext cx="5248275" cy="64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EF4444"/>
                </a:solidFill>
                <a:latin typeface="Nunito"/>
              </a:rPr>
              <a:t>Apa</a:t>
            </a:r>
            <a:r>
              <a:rPr sz="1650" b="1" i="0" u="none" dirty="0">
                <a:solidFill>
                  <a:srgbClr val="EF4444"/>
                </a:solidFill>
                <a:latin typeface="Nunito"/>
              </a:rPr>
              <a:t> jadinya kalau urutannya </a:t>
            </a:r>
            <a:r>
              <a:rPr sz="1650" b="1" i="0" u="none" dirty="0" err="1">
                <a:solidFill>
                  <a:srgbClr val="EF4444"/>
                </a:solidFill>
                <a:latin typeface="Nunito"/>
              </a:rPr>
              <a:t>kebalik</a:t>
            </a:r>
            <a:r>
              <a:rPr sz="1650" b="1" i="0" u="none" dirty="0">
                <a:solidFill>
                  <a:srgbClr val="EF4444"/>
                </a:solidFill>
                <a:latin typeface="Nunito"/>
              </a:rPr>
              <a:t> (</a:t>
            </a:r>
            <a:r>
              <a:rPr lang="en-US" sz="1650" b="1" i="0" u="none" dirty="0" err="1">
                <a:solidFill>
                  <a:srgbClr val="EF4444"/>
                </a:solidFill>
                <a:latin typeface="Nunito"/>
              </a:rPr>
              <a:t>mie</a:t>
            </a:r>
            <a:r>
              <a:rPr lang="en-US" sz="1650" b="1" i="0" u="none" dirty="0">
                <a:solidFill>
                  <a:srgbClr val="EF4444"/>
                </a:solidFill>
                <a:latin typeface="Nunito"/>
              </a:rPr>
              <a:t> </a:t>
            </a:r>
            <a:r>
              <a:rPr lang="en-US" sz="1650" b="1" i="0" u="none" dirty="0" err="1">
                <a:solidFill>
                  <a:srgbClr val="EF4444"/>
                </a:solidFill>
                <a:latin typeface="Nunito"/>
              </a:rPr>
              <a:t>dicampur</a:t>
            </a:r>
            <a:r>
              <a:rPr lang="en-US" sz="1650" b="1" i="0" u="none" dirty="0">
                <a:solidFill>
                  <a:srgbClr val="EF4444"/>
                </a:solidFill>
                <a:latin typeface="Nunito"/>
              </a:rPr>
              <a:t> </a:t>
            </a:r>
            <a:r>
              <a:rPr lang="en-US" sz="1650" b="1" i="0" u="none" dirty="0" err="1">
                <a:solidFill>
                  <a:srgbClr val="EF4444"/>
                </a:solidFill>
                <a:latin typeface="Nunito"/>
              </a:rPr>
              <a:t>bumbu</a:t>
            </a:r>
            <a:r>
              <a:rPr lang="en-US" sz="1650" b="1" i="0" u="none" dirty="0">
                <a:solidFill>
                  <a:srgbClr val="EF4444"/>
                </a:solidFill>
                <a:latin typeface="Nunito"/>
              </a:rPr>
              <a:t> tanpa air </a:t>
            </a:r>
            <a:r>
              <a:rPr lang="en-US" sz="1650" b="1" i="0" u="none" dirty="0" err="1">
                <a:solidFill>
                  <a:srgbClr val="EF4444"/>
                </a:solidFill>
                <a:latin typeface="Nunito"/>
              </a:rPr>
              <a:t>mendidih</a:t>
            </a:r>
            <a:r>
              <a:rPr lang="en-US" sz="1650" b="1" i="0" u="none" dirty="0">
                <a:solidFill>
                  <a:srgbClr val="EF4444"/>
                </a:solidFill>
                <a:latin typeface="Nunito"/>
              </a:rPr>
              <a:t>/air </a:t>
            </a:r>
            <a:r>
              <a:rPr lang="en-US" sz="1650" b="1" i="0" u="none" dirty="0" err="1">
                <a:solidFill>
                  <a:srgbClr val="EF4444"/>
                </a:solidFill>
                <a:latin typeface="Nunito"/>
              </a:rPr>
              <a:t>dingin</a:t>
            </a:r>
            <a:r>
              <a:rPr sz="1650" b="1" i="0" u="none" dirty="0">
                <a:solidFill>
                  <a:srgbClr val="EF4444"/>
                </a:solidFill>
                <a:latin typeface="Nunito"/>
              </a:rPr>
              <a:t>)? </a:t>
            </a:r>
            <a:endParaRPr lang="en-US" sz="1650" b="1" dirty="0">
              <a:solidFill>
                <a:srgbClr val="EF4444"/>
              </a:solidFill>
              <a:latin typeface="Nunito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37" y="2066925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15125" y="3196828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Panaskan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 air </a:t>
            </a: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hingga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mendidih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722489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Nunito"/>
              </a:rPr>
              <a:t>Masukkan mi ke dalam air mendidih.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248150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34155"/>
                </a:solidFill>
                <a:latin typeface="Nunito"/>
              </a:rPr>
              <a:t>Tiriskan mi dan campur dengan bumbu.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34928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3760589"/>
            <a:ext cx="1524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4286250"/>
            <a:ext cx="1428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4F46E5"/>
                </a:solidFill>
                <a:latin typeface="Fredoka SemiBold"/>
              </a:rPr>
              <a:t>4. Algoritma (Langkah Logis)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17764-B13D-4145-9EB0-DEEFB9D2920B}"/>
              </a:ext>
            </a:extLst>
          </p:cNvPr>
          <p:cNvSpPr txBox="1"/>
          <p:nvPr/>
        </p:nvSpPr>
        <p:spPr>
          <a:xfrm>
            <a:off x="5751195" y="698594"/>
            <a:ext cx="609361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i="0" u="none" dirty="0" err="1">
                <a:solidFill>
                  <a:srgbClr val="334155"/>
                </a:solidFill>
                <a:latin typeface="Nunito"/>
              </a:rPr>
              <a:t>Urutan</a:t>
            </a:r>
            <a:r>
              <a:rPr lang="en-US" sz="1800" b="1" i="0" u="none" dirty="0">
                <a:solidFill>
                  <a:srgbClr val="334155"/>
                </a:solidFill>
                <a:latin typeface="Nunito"/>
              </a:rPr>
              <a:t> langkah-langkah </a:t>
            </a:r>
            <a:r>
              <a:rPr lang="en-US" sz="1800" b="1" i="0" u="none" dirty="0" err="1">
                <a:solidFill>
                  <a:srgbClr val="334155"/>
                </a:solidFill>
                <a:latin typeface="Nunito"/>
              </a:rPr>
              <a:t>logis</a:t>
            </a:r>
            <a:r>
              <a:rPr lang="en-US" sz="1800" b="1" i="0" u="none" dirty="0">
                <a:solidFill>
                  <a:srgbClr val="334155"/>
                </a:solidFill>
                <a:latin typeface="Nunito"/>
              </a:rPr>
              <a:t> dan </a:t>
            </a:r>
            <a:r>
              <a:rPr lang="en-US" sz="1800" b="1" i="0" u="none" dirty="0" err="1">
                <a:solidFill>
                  <a:srgbClr val="334155"/>
                </a:solidFill>
                <a:latin typeface="Nunito"/>
              </a:rPr>
              <a:t>teratur</a:t>
            </a:r>
            <a:r>
              <a:rPr lang="id-ID" sz="1800" b="1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F9A2D6-2903-4E3D-B0EE-F4956D8EDC13}"/>
              </a:ext>
            </a:extLst>
          </p:cNvPr>
          <p:cNvSpPr/>
          <p:nvPr/>
        </p:nvSpPr>
        <p:spPr>
          <a:xfrm>
            <a:off x="6334125" y="566736"/>
            <a:ext cx="5157787" cy="6381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0515" y="2379464"/>
            <a:ext cx="7750968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4F46E5"/>
                </a:solidFill>
                <a:latin typeface="Fredoka SemiBold"/>
              </a:rPr>
              <a:t>Waktunya Praktik! 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03414"/>
            <a:ext cx="76200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1" i="0" u="none">
                <a:solidFill>
                  <a:srgbClr val="F59E0B"/>
                </a:solidFill>
                <a:latin typeface="Nunito"/>
              </a:rPr>
              <a:t>Mari gunakan logika Algoritma untuk menggerakkan sesuatu.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27349"/>
            <a:ext cx="5248275" cy="1481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266527"/>
            <a:ext cx="52482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334155"/>
                </a:solidFill>
                <a:latin typeface="Nunito"/>
              </a:rPr>
              <a:t>Kamu adalah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seorang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programmer yang harus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mengendalikan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robot ini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menuju</a:t>
            </a:r>
            <a:r>
              <a:rPr lang="en-US" sz="1650" b="0" i="0" u="none" dirty="0">
                <a:solidFill>
                  <a:srgbClr val="334155"/>
                </a:solidFill>
                <a:latin typeface="Nunito"/>
              </a:rPr>
              <a:t> Rumah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76564"/>
            <a:ext cx="5248275" cy="980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Dapatkah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kamu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menulis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algoritma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(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urutan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perintah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) agar </a:t>
            </a:r>
            <a:r>
              <a:rPr lang="en-US" sz="1650" b="1" i="0" u="none" dirty="0">
                <a:solidFill>
                  <a:srgbClr val="334155"/>
                </a:solidFill>
                <a:latin typeface="Nunito"/>
              </a:rPr>
              <a:t>ROBOT </a:t>
            </a:r>
            <a:r>
              <a:rPr sz="1650" b="1" i="0" u="none" dirty="0" err="1">
                <a:solidFill>
                  <a:srgbClr val="334155"/>
                </a:solidFill>
                <a:latin typeface="Nunito"/>
              </a:rPr>
              <a:t>mencapai</a:t>
            </a:r>
            <a:r>
              <a:rPr sz="1650" b="1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lang="en-US" sz="1650" b="1" i="0" u="none" dirty="0">
                <a:solidFill>
                  <a:srgbClr val="334155"/>
                </a:solidFill>
                <a:latin typeface="Nunito"/>
              </a:rPr>
              <a:t>RUMAH 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tanpa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menabrak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Nunito"/>
              </a:rPr>
              <a:t>rintangan</a:t>
            </a:r>
            <a:r>
              <a:rPr sz="1650" b="0" i="0" u="none" dirty="0">
                <a:solidFill>
                  <a:srgbClr val="334155"/>
                </a:solidFill>
                <a:latin typeface="Nunito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317849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B45309"/>
                </a:solidFill>
                <a:latin typeface="Nunito ExtraBold"/>
              </a:rPr>
              <a:t>🤖 Memori Robot Terbatas!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748260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 SemiBold"/>
              </a:rPr>
              <a:t>Robot ini sangat polos. Dia hanya mengerti 3 perintah dasar: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99582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 Black"/>
              </a:rPr>
              <a:t>MAJU</a:t>
            </a:r>
            <a:r>
              <a:rPr sz="1650" b="1" i="0" u="none">
                <a:solidFill>
                  <a:srgbClr val="334155"/>
                </a:solidFill>
                <a:latin typeface="Nunito"/>
              </a:rPr>
              <a:t> (1 Kotak)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305299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 Black"/>
              </a:rPr>
              <a:t>HADAP KANAN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850903"/>
            <a:ext cx="48672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Nunito Black"/>
              </a:rPr>
              <a:t>HADAP KIRI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37682"/>
            <a:ext cx="1714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63342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89003"/>
            <a:ext cx="22860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333077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 err="1">
                <a:solidFill>
                  <a:srgbClr val="4F46E5"/>
                </a:solidFill>
                <a:latin typeface="Fredoka SemiBold"/>
              </a:rPr>
              <a:t>Misi</a:t>
            </a:r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: </a:t>
            </a:r>
            <a:r>
              <a:rPr lang="en-US" sz="3600" dirty="0">
                <a:solidFill>
                  <a:srgbClr val="4F46E5"/>
                </a:solidFill>
                <a:latin typeface="Fredoka SemiBold"/>
              </a:rPr>
              <a:t>Masuk rumah</a:t>
            </a:r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023A85-9FA5-48BE-A5A2-F2640DE1F9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859714"/>
            <a:ext cx="5057775" cy="292896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4E03CE7-21F4-432F-A40B-05F280B4C269}"/>
              </a:ext>
            </a:extLst>
          </p:cNvPr>
          <p:cNvGrpSpPr/>
          <p:nvPr/>
        </p:nvGrpSpPr>
        <p:grpSpPr>
          <a:xfrm>
            <a:off x="7213186" y="1116228"/>
            <a:ext cx="1458751" cy="4372463"/>
            <a:chOff x="7213186" y="1116228"/>
            <a:chExt cx="1458751" cy="437246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3ECE68-ADF6-4A0E-9587-CD38AEBB6BB8}"/>
                </a:ext>
              </a:extLst>
            </p:cNvPr>
            <p:cNvGrpSpPr/>
            <p:nvPr/>
          </p:nvGrpSpPr>
          <p:grpSpPr>
            <a:xfrm>
              <a:off x="7213186" y="4977875"/>
              <a:ext cx="1458751" cy="510816"/>
              <a:chOff x="7213186" y="4977875"/>
              <a:chExt cx="1458751" cy="510816"/>
            </a:xfrm>
          </p:grpSpPr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8D5F7D2B-AC7B-46A8-A10B-066522DBD8FC}"/>
                  </a:ext>
                </a:extLst>
              </p:cNvPr>
              <p:cNvSpPr/>
              <p:nvPr/>
            </p:nvSpPr>
            <p:spPr>
              <a:xfrm rot="5400000">
                <a:off x="7128044" y="5063017"/>
                <a:ext cx="510816" cy="340532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BE8925-9DD7-4921-9286-7D38414768A7}"/>
                  </a:ext>
                </a:extLst>
              </p:cNvPr>
              <p:cNvSpPr txBox="1"/>
              <p:nvPr/>
            </p:nvSpPr>
            <p:spPr>
              <a:xfrm>
                <a:off x="7834044" y="5063017"/>
                <a:ext cx="837893" cy="31354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lang="en-US" sz="1650" dirty="0">
                    <a:solidFill>
                      <a:srgbClr val="334155"/>
                    </a:solidFill>
                    <a:latin typeface="Nunito"/>
                  </a:rPr>
                  <a:t>Kanan</a:t>
                </a:r>
                <a:endParaRPr sz="1650" b="0" i="0" u="none" dirty="0">
                  <a:solidFill>
                    <a:srgbClr val="334155"/>
                  </a:solidFill>
                  <a:latin typeface="Nunito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2313F60-4F5C-4710-8FBD-FFF2233DDA7D}"/>
                </a:ext>
              </a:extLst>
            </p:cNvPr>
            <p:cNvGrpSpPr/>
            <p:nvPr/>
          </p:nvGrpSpPr>
          <p:grpSpPr>
            <a:xfrm>
              <a:off x="7213186" y="1116228"/>
              <a:ext cx="1458751" cy="510816"/>
              <a:chOff x="7213186" y="1116228"/>
              <a:chExt cx="1458751" cy="510816"/>
            </a:xfrm>
          </p:grpSpPr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74F819CF-3655-4DE4-B086-571CBB682E5E}"/>
                  </a:ext>
                </a:extLst>
              </p:cNvPr>
              <p:cNvSpPr/>
              <p:nvPr/>
            </p:nvSpPr>
            <p:spPr>
              <a:xfrm rot="16200000">
                <a:off x="7128044" y="1201370"/>
                <a:ext cx="510816" cy="340532"/>
              </a:xfrm>
              <a:prstGeom prst="right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7C90CD-715C-408E-86D8-C63D94F0D4DB}"/>
                  </a:ext>
                </a:extLst>
              </p:cNvPr>
              <p:cNvSpPr txBox="1"/>
              <p:nvPr/>
            </p:nvSpPr>
            <p:spPr>
              <a:xfrm>
                <a:off x="7834044" y="1201370"/>
                <a:ext cx="837893" cy="31354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640"/>
                  </a:lnSpc>
                </a:pPr>
                <a:r>
                  <a:rPr lang="en-US" sz="1650" dirty="0">
                    <a:solidFill>
                      <a:srgbClr val="334155"/>
                    </a:solidFill>
                    <a:latin typeface="Nunito"/>
                  </a:rPr>
                  <a:t>Kiri</a:t>
                </a:r>
                <a:endParaRPr sz="1650" b="0" i="0" u="none" dirty="0">
                  <a:solidFill>
                    <a:srgbClr val="334155"/>
                  </a:solidFill>
                  <a:latin typeface="Nunito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CD221-4C66-4739-AE80-EB2C87B1BB44}"/>
              </a:ext>
            </a:extLst>
          </p:cNvPr>
          <p:cNvSpPr txBox="1"/>
          <p:nvPr/>
        </p:nvSpPr>
        <p:spPr>
          <a:xfrm>
            <a:off x="609600" y="333077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 err="1">
                <a:solidFill>
                  <a:srgbClr val="4F46E5"/>
                </a:solidFill>
                <a:latin typeface="Fredoka SemiBold"/>
              </a:rPr>
              <a:t>Misi</a:t>
            </a:r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: </a:t>
            </a:r>
            <a:r>
              <a:rPr lang="en-US" sz="3600" dirty="0">
                <a:solidFill>
                  <a:srgbClr val="4F46E5"/>
                </a:solidFill>
                <a:latin typeface="Fredoka SemiBold"/>
              </a:rPr>
              <a:t>Masuk rumah</a:t>
            </a:r>
            <a:r>
              <a:rPr sz="3600" b="0" i="0" u="none" dirty="0">
                <a:solidFill>
                  <a:srgbClr val="4F46E5"/>
                </a:solidFill>
                <a:latin typeface="Fredoka SemiBold"/>
              </a:rPr>
              <a:t>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0741ED-9546-49CF-A5C0-E61C53FD79F4}"/>
              </a:ext>
            </a:extLst>
          </p:cNvPr>
          <p:cNvSpPr/>
          <p:nvPr/>
        </p:nvSpPr>
        <p:spPr>
          <a:xfrm>
            <a:off x="814261" y="2771775"/>
            <a:ext cx="5815013" cy="13144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+mj-lt"/>
              </a:rPr>
              <a:t>Maju</a:t>
            </a:r>
            <a:r>
              <a:rPr lang="en-US" sz="2800" dirty="0">
                <a:latin typeface="+mj-lt"/>
              </a:rPr>
              <a:t> 3 langkah</a:t>
            </a:r>
            <a:endParaRPr lang="id-ID" sz="2800" dirty="0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E4B802-14E7-4857-B9D9-E997A6E671C6}"/>
              </a:ext>
            </a:extLst>
          </p:cNvPr>
          <p:cNvSpPr/>
          <p:nvPr/>
        </p:nvSpPr>
        <p:spPr>
          <a:xfrm>
            <a:off x="814260" y="4372124"/>
            <a:ext cx="5815013" cy="13144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+mj-lt"/>
              </a:rPr>
              <a:t>Hadap</a:t>
            </a:r>
            <a:r>
              <a:rPr lang="en-US" sz="2800" dirty="0">
                <a:latin typeface="+mj-lt"/>
              </a:rPr>
              <a:t> kanan, </a:t>
            </a:r>
            <a:r>
              <a:rPr lang="en-US" sz="2800" dirty="0" err="1">
                <a:latin typeface="+mj-lt"/>
              </a:rPr>
              <a:t>maju</a:t>
            </a:r>
            <a:r>
              <a:rPr lang="en-US" sz="2800" dirty="0">
                <a:latin typeface="+mj-lt"/>
              </a:rPr>
              <a:t> 3 langkah</a:t>
            </a:r>
            <a:endParaRPr lang="id-ID" sz="2800" dirty="0"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367560-6052-459F-9F00-EBCBDAF5D988}"/>
              </a:ext>
            </a:extLst>
          </p:cNvPr>
          <p:cNvSpPr/>
          <p:nvPr/>
        </p:nvSpPr>
        <p:spPr>
          <a:xfrm>
            <a:off x="814261" y="1171426"/>
            <a:ext cx="5815013" cy="13144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+mj-lt"/>
              </a:rPr>
              <a:t>Hadap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kiri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maju</a:t>
            </a:r>
            <a:r>
              <a:rPr lang="en-US" sz="2800" dirty="0">
                <a:latin typeface="+mj-lt"/>
              </a:rPr>
              <a:t> 2 langkah</a:t>
            </a:r>
            <a:endParaRPr lang="id-ID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610934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68DC3-62D4-40C2-B2A2-FEB62B6BB8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10" r="15032"/>
          <a:stretch/>
        </p:blipFill>
        <p:spPr>
          <a:xfrm>
            <a:off x="2843213" y="291808"/>
            <a:ext cx="7558087" cy="62743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A791D4-914E-4F74-92AB-1593BDEB54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rcRect l="2266" r="85075" b="65636"/>
          <a:stretch/>
        </p:blipFill>
        <p:spPr>
          <a:xfrm>
            <a:off x="1790699" y="563272"/>
            <a:ext cx="986837" cy="155128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4F7487-F93B-4357-9AB6-6F791670A256}"/>
              </a:ext>
            </a:extLst>
          </p:cNvPr>
          <p:cNvSpPr/>
          <p:nvPr/>
        </p:nvSpPr>
        <p:spPr>
          <a:xfrm>
            <a:off x="-1116807" y="3100388"/>
            <a:ext cx="5815013" cy="13144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+mj-lt"/>
              </a:rPr>
              <a:t>Maju</a:t>
            </a:r>
            <a:r>
              <a:rPr lang="en-US" sz="2800" dirty="0">
                <a:latin typeface="+mj-lt"/>
              </a:rPr>
              <a:t> 3 langkah</a:t>
            </a:r>
            <a:endParaRPr lang="id-ID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32378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279" y="1932682"/>
            <a:ext cx="1152144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0" b="0" i="0" u="none">
                <a:solidFill>
                  <a:srgbClr val="4F46E5"/>
                </a:solidFill>
                <a:latin typeface="Fredoka SemiBold"/>
              </a:rPr>
              <a:t>Siap Menulis Kode?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75707"/>
            <a:ext cx="10972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1" i="0" u="none">
                <a:solidFill>
                  <a:srgbClr val="1E293B"/>
                </a:solidFill>
                <a:latin typeface="Nunito"/>
              </a:rPr>
              <a:t>Mari diskusikan jawaban algoritmamu!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4229992"/>
            <a:ext cx="647700" cy="571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0100" y="1546175"/>
            <a:ext cx="10591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0100" y="2330946"/>
            <a:ext cx="10591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0100" y="3115716"/>
            <a:ext cx="10591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0100" y="3900487"/>
            <a:ext cx="10591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100" y="4685258"/>
            <a:ext cx="105918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" y="2321421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" y="2321421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0100" y="3106191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" y="3106191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" y="3890962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" y="3890962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" y="4675733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" y="4675733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" y="5460503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" y="5460503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9559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95475" y="1689050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https://static.vecteezy.com/system/resources/previews/060/302/673/non_2x/a-robot-holding-up-a-light-bulb-with-an-idea-png.png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5475" y="1934765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48036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95475" y="2473821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https://png.pngtree.com/png-clipart/20250429/original/pngtree-3d-pizza-slice-with-toppings-and-cheese-png-image_20888155.png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5475" y="2719536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pngtree.com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6514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95475" y="3258591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https://png.pngtree.com/png-vector/20260421/ourlarge/pngtree-a-cartoon-emoji-character-dancing-with-headphones-and-musical-notes-png-image_19151948.webp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5475" y="3504307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pngtree.com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4991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95475" y="4043362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https://images.stockcake.com/public/6/2/0/62096963-7052-46b0-aa30-8ff2f7f456a8_large/navigate-your-journey-stockcake.jpg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5475" y="4289077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stockcake.com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834681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895475" y="4828133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https://img.magnific.com/free-photo/delicious-ramen-with-chopsticks-arrangement_23-2150756204.jpg?semt=ais_hybrid&amp;w=740&amp;q=80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5475" y="5073848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www.magnific.com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61945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95475" y="5612903"/>
            <a:ext cx="94964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unito"/>
              </a:rPr>
              <a:t>https://simplegamereviews.com/wp-content/uploads/2026/06/Bad-Cat5-1024x576.jpg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5475" y="5858619"/>
            <a:ext cx="94964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uni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unito"/>
              </a:rPr>
              <a:t>simplegamereviews.com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09600"/>
            <a:ext cx="115214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4F46E5"/>
                </a:solidFill>
                <a:latin typeface="Fredoka SemiBold"/>
              </a:rPr>
              <a:t>Image Sources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703</Words>
  <Application>Microsoft Office PowerPoint</Application>
  <PresentationFormat>Widescreen</PresentationFormat>
  <Paragraphs>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Fredoka SemiBold</vt:lpstr>
      <vt:lpstr>Arial</vt:lpstr>
      <vt:lpstr>Calibri</vt:lpstr>
      <vt:lpstr>Nunito</vt:lpstr>
      <vt:lpstr>Nunito Black</vt:lpstr>
      <vt:lpstr>Nunito ExtraBold</vt:lpstr>
      <vt:lpstr>Nunito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Alfina Nurrahma 'N</cp:lastModifiedBy>
  <cp:revision>5</cp:revision>
  <dcterms:created xsi:type="dcterms:W3CDTF">2013-01-27T09:14:16Z</dcterms:created>
  <dcterms:modified xsi:type="dcterms:W3CDTF">2026-08-03T14:22:34Z</dcterms:modified>
  <cp:category/>
</cp:coreProperties>
</file>